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456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65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560320" y="1097280"/>
            <a:ext cx="2926080" cy="2926080"/>
          </a:xfrm>
          <a:prstGeom prst="ellipse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Land-XI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프로토타입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0BE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구성 검토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B0BE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UX 구조 분석 및 설계 방향 제안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286000"/>
            <a:ext cx="1371600" cy="18288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공간정보 플랫폼 UI 트렌드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1371600" cy="1371600"/>
          </a:xfrm>
          <a:prstGeom prst="ellipse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퍼스트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대시보드가 아닌 지도가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진입점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2194560"/>
            <a:ext cx="1371600" cy="1371600"/>
          </a:xfrm>
          <a:prstGeom prst="ellipse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108960" y="23774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상시 노출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패널은 항상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가능한 구조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2194560"/>
            <a:ext cx="1371600" cy="1371600"/>
          </a:xfrm>
          <a:prstGeom prst="ellipse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57800" y="23774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프로그레시브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디스클로저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행동에 따라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점진적으로 정보 표출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2194560"/>
            <a:ext cx="1371600" cy="1371600"/>
          </a:xfrm>
          <a:prstGeom prst="ellipse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06640" y="23774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기반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660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분석가·관리자·열람자별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메뉴와 기능 분리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— FlyPix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위성/드론 영상 AI 분석 플랫폼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C:\project\clean\assets\img\report/bench_flyp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029200" cy="25692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188720"/>
            <a:ext cx="301752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60720" y="1188720"/>
            <a:ext cx="54864" cy="27432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035040" y="13716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기본 화면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좌측에 AI 탐지 결과 상시 표시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바 최소화
(프로젝트명 + 모드 전환만)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업로드 → 모델 선택 → 분석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워크스페이스 내 완결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flypix.ai/platform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— Roboflow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비전 모델 관리·배포 플랫폼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C:\project\clean\assets\img\report/bench_roboflow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029200" cy="26906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188720"/>
            <a:ext cx="301752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60720" y="1188720"/>
            <a:ext cx="54864" cy="27432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035040" y="13716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카드 제공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수, 평균 신뢰도, 추론 시간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탭 4개만 배치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 / Workflows /
Monitoring / Devices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파이프라인을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플랫폼에서 관리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— Felt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구조 참고 (지도 기반 협업 플랫폼)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C:\project\clean\assets\img\report/bench_felt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029200" cy="28599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188720"/>
            <a:ext cx="301752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60720" y="1188720"/>
            <a:ext cx="54864" cy="292608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035040" y="13716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레이어(Legend)
좌측 상시 노출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패널은
클릭 시에만 우측 표시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 없이
여러 패널 동시 참조 가능
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Toolbar 상단 5개 이내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비교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FlyPix 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Roboflow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Felt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Land-XI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성격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AI 분석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관리·배포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협업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분석 + 지도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진입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목록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탑 메뉴 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3~4개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레이어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좌측 상시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N/A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좌측 상시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451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탭 전환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권한 분기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 기반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팀/개인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편집/뷰어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5A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E2D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4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 플랫폼들은 탑 메뉴 4~5개, 레이어 상시 노출이 표준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Land-XI의 권한별 3단계 UI 분기는 벤치마킹 대비 강점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 네비게이션 구조 분석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C:\project\clean\assets\img\report/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657600" cy="3199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188720"/>
            <a:ext cx="420624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72000" y="1188720"/>
            <a:ext cx="54864" cy="146304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840480" cy="1097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 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 너비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최소 해상도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~480px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태블릿 이상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~672px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1024px+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~864px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1440px+ 필수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0" y="2834640"/>
            <a:ext cx="42062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572000" y="2834640"/>
            <a:ext cx="54864" cy="1645920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846320" y="29260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우려
</a:t>
            </a: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수평 나열 시 1280px 미만에서 잘림
NNG 기준 권장 메뉴 수: 5~7개
</a:t>
            </a: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
</a:t>
            </a: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핵심(대시보드·지도·보고서)과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관리(영상·학습·모델) 2단 그룹핑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탭 구조 분석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C:\project\clean\assets\img\report/map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2717512" cy="2377440"/>
          </a:xfrm>
          <a:prstGeom prst="rect">
            <a:avLst/>
          </a:prstGeom>
        </p:spPr>
      </p:pic>
      <p:pic>
        <p:nvPicPr>
          <p:cNvPr id="6" name="Image 1" descr="C:\project\clean\assets\img\report/map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43000"/>
            <a:ext cx="2717512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611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탭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383280" y="3611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탭 (레이어 사라짐)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400800" y="1143000"/>
            <a:ext cx="237744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400800" y="1143000"/>
            <a:ext cx="54864" cy="256032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629400" y="12344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컨텍스트 유실
</a:t>
            </a:r>
            <a:r>
              <a:rPr lang="en-US" sz="9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 시 이전 상태 소멸
</a:t>
            </a:r>
            <a:r>
              <a:rPr lang="en-US" sz="95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 혼재
</a:t>
            </a:r>
            <a:r>
              <a:rPr lang="en-US" sz="9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레이어(상시)와 라벨링(전문)
동일 레벨 배치
</a:t>
            </a:r>
            <a:r>
              <a:rPr lang="en-US" sz="95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
</a:t>
            </a:r>
            <a:r>
              <a:rPr lang="en-US" sz="9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상시 노출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독립 플로팅 패널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제안 — 네비게이션 구조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9개 수평 나열 → 핵심/관리 2단 그룹핑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2C3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35608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44752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지도서비스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31720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40864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영상관리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27832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36976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분석설정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23944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33088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학습데이터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0056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모델학습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16168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25312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모델발제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12280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21424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708392" y="1691640"/>
            <a:ext cx="9144" cy="228600"/>
          </a:xfrm>
          <a:prstGeom prst="rect">
            <a:avLst/>
          </a:prstGeom>
          <a:solidFill>
            <a:srgbClr val="5A6B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17536" y="157276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1440px 이상 필수, 메뉴 간 여백 부족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2C3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2990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2990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지도서비스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2990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0" y="2990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94960" y="3044952"/>
            <a:ext cx="1280160" cy="365760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94960" y="3044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3429000"/>
            <a:ext cx="12801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394960" y="3429000"/>
            <a:ext cx="128016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86400" y="34747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영상관리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369417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분석설정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0" y="39136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학습데이터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4133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모델학습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43525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모델발제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5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 바 5개 + 관리 드롭다운 → 1024px에서도 안정 대응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제안 — 지도서비스 레이아웃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 방식 → 레이어 상시 + 분석 독립 패널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097280" cy="2560320"/>
          </a:xfrm>
          <a:prstGeom prst="rect">
            <a:avLst/>
          </a:prstGeom>
          <a:solidFill>
            <a:srgbClr val="E0E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097280" cy="274320"/>
          </a:xfrm>
          <a:prstGeom prst="rect">
            <a:avLst/>
          </a:prstGeom>
          <a:solidFill>
            <a:srgbClr val="2C3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12801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목록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카드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(택 1)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45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 시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45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컨텍스트 유실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384048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029200" y="1554480"/>
            <a:ext cx="1005840" cy="2560320"/>
          </a:xfrm>
          <a:prstGeom prst="rect">
            <a:avLst/>
          </a:prstGeom>
          <a:solidFill>
            <a:srgbClr val="D4DD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0" y="1554480"/>
            <a:ext cx="1005840" cy="2286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0" y="1554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74920" y="187452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국가하천  ●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지방하천  ●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소하천    ●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   ●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걸침      ●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구역내    ●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표시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1737360"/>
            <a:ext cx="146304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132320" y="1737360"/>
            <a:ext cx="1463040" cy="9144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132320" y="1737360"/>
            <a:ext cx="1463040" cy="1645920"/>
          </a:xfrm>
          <a:prstGeom prst="rect">
            <a:avLst/>
          </a:prstGeom>
          <a:noFill/>
          <a:ln w="12700">
            <a:solidFill>
              <a:srgbClr val="3D4F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17804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4F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패널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3D4F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(독립 플로팅)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78040" y="2148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선택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설정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실행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2920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레이어를 보면서 동시에 분석 실행 가능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D4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진입점 &amp; 권한별 UI 분기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"/>
          </a:xfrm>
          <a:prstGeom prst="rect">
            <a:avLst/>
          </a:prstGeom>
          <a:solidFill>
            <a:srgbClr val="D1D9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1097280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기본 진입 — 검토 필요
</a:t>
            </a: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업무 사용자에게 불필요한 동선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분기 권장 (관리자→대시보드, 열람자→지도)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54864" cy="1097280"/>
          </a:xfrm>
          <a:prstGeom prst="rect">
            <a:avLst/>
          </a:prstGeom>
          <a:solidFill>
            <a:srgbClr val="2E5A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20640" y="1188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권한별 3단계 분기 — 강점
</a:t>
            </a: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9개 / LX 7개 / 지자체 6개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메뉴와 버튼이 권한별로 다르게 구성</a:t>
            </a:r>
            <a:endParaRPr lang="en-US" sz="1000" dirty="0"/>
          </a:p>
        </p:txBody>
      </p:sp>
      <p:pic>
        <p:nvPicPr>
          <p:cNvPr id="11" name="Image 0" descr="C:\project\clean\assets\img\report/loca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2717512" cy="2377440"/>
          </a:xfrm>
          <a:prstGeom prst="rect">
            <a:avLst/>
          </a:prstGeom>
        </p:spPr>
      </p:pic>
      <p:pic>
        <p:nvPicPr>
          <p:cNvPr id="12" name="Image 1" descr="C:\project\clean\assets\img\report/lx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2717512" cy="2377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6634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뷰 — 6개 메뉴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46320" y="4663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LX 뷰 — 7개 메뉴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859ABD56-73BD-7A29-45DA-0DC0A4287925}"/>
              </a:ext>
            </a:extLst>
          </p:cNvPr>
          <p:cNvSpPr/>
          <p:nvPr/>
        </p:nvSpPr>
        <p:spPr>
          <a:xfrm>
            <a:off x="6858000" y="0"/>
            <a:ext cx="2286000" cy="3200400"/>
          </a:xfrm>
          <a:custGeom>
            <a:avLst/>
            <a:gdLst>
              <a:gd name="csX0" fmla="*/ 346930 w 2286000"/>
              <a:gd name="csY0" fmla="*/ 0 h 3200400"/>
              <a:gd name="csX1" fmla="*/ 2286000 w 2286000"/>
              <a:gd name="csY1" fmla="*/ 0 h 3200400"/>
              <a:gd name="csX2" fmla="*/ 2286000 w 2286000"/>
              <a:gd name="csY2" fmla="*/ 3186994 h 3200400"/>
              <a:gd name="csX3" fmla="*/ 2267757 w 2286000"/>
              <a:gd name="csY3" fmla="*/ 3189778 h 3200400"/>
              <a:gd name="csX4" fmla="*/ 2057400 w 2286000"/>
              <a:gd name="csY4" fmla="*/ 3200400 h 3200400"/>
              <a:gd name="csX5" fmla="*/ 0 w 2286000"/>
              <a:gd name="csY5" fmla="*/ 1143000 h 3200400"/>
              <a:gd name="csX6" fmla="*/ 248317 w 2286000"/>
              <a:gd name="csY6" fmla="*/ 162321 h 320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86000" h="3200400">
                <a:moveTo>
                  <a:pt x="346930" y="0"/>
                </a:moveTo>
                <a:lnTo>
                  <a:pt x="2286000" y="0"/>
                </a:lnTo>
                <a:lnTo>
                  <a:pt x="2286000" y="3186994"/>
                </a:lnTo>
                <a:lnTo>
                  <a:pt x="2267757" y="3189778"/>
                </a:lnTo>
                <a:cubicBezTo>
                  <a:pt x="2198594" y="3196802"/>
                  <a:pt x="2128417" y="3200400"/>
                  <a:pt x="2057400" y="3200400"/>
                </a:cubicBezTo>
                <a:cubicBezTo>
                  <a:pt x="921129" y="3200400"/>
                  <a:pt x="0" y="2279271"/>
                  <a:pt x="0" y="1143000"/>
                </a:cubicBezTo>
                <a:cubicBezTo>
                  <a:pt x="0" y="787915"/>
                  <a:pt x="89954" y="453841"/>
                  <a:pt x="248317" y="162321"/>
                </a:cubicBezTo>
                <a:close/>
              </a:path>
            </a:pathLst>
          </a:custGeom>
          <a:solidFill>
            <a:srgbClr val="3D4F6F">
              <a:alpha val="50000"/>
            </a:srgbClr>
          </a:solidFill>
          <a:ln/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판정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371600" cy="18288"/>
          </a:xfrm>
          <a:prstGeom prst="rect">
            <a:avLst/>
          </a:prstGeom>
          <a:solidFill>
            <a:srgbClr val="8E99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347472" cy="347472"/>
          </a:xfrm>
          <a:prstGeom prst="ellipse">
            <a:avLst/>
          </a:prstGeom>
          <a:solidFill>
            <a:srgbClr val="9E6B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 네비게이션 9개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권장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5~7개 그룹핑 또는 2단 분리 필요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01368"/>
            <a:ext cx="347472" cy="347472"/>
          </a:xfrm>
          <a:prstGeom prst="ellipse">
            <a:avLst/>
          </a:prstGeom>
          <a:solidFill>
            <a:srgbClr val="9E6B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5156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탭 전환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권장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레이어 상시 노출 + 분석 독립 패널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347472" cy="347472"/>
          </a:xfrm>
          <a:prstGeom prst="ellipse">
            <a:avLst/>
          </a:prstGeom>
          <a:solidFill>
            <a:srgbClr val="8E99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기본 진입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분기 권장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47472" cy="347472"/>
          </a:xfrm>
          <a:prstGeom prst="ellipse">
            <a:avLst/>
          </a:prstGeom>
          <a:solidFill>
            <a:srgbClr val="5A8E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권한별 UI 분기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8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분기 이미 구현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21608"/>
            <a:ext cx="347472" cy="347472"/>
          </a:xfrm>
          <a:prstGeom prst="ellipse">
            <a:avLst/>
          </a:prstGeom>
          <a:solidFill>
            <a:srgbClr val="5A8E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515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워크플로우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8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카드→범위→실행 구조 직관적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61688"/>
            <a:ext cx="347472" cy="347472"/>
          </a:xfrm>
          <a:prstGeom prst="ellipse">
            <a:avLst/>
          </a:prstGeom>
          <a:solidFill>
            <a:srgbClr val="5A8E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5156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시스템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8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컴포넌트 일관성 확보, 아이콘 교체 필요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화면 슬라이드 쇼(16:9)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Land-XI 프로토타입 UI 구성 검토 의견서</dc:title>
  <dc:subject>PptxGenJS Presentation</dc:subject>
  <dc:creator>UI Review Team</dc:creator>
  <cp:lastModifiedBy>sangmi shin</cp:lastModifiedBy>
  <cp:revision>2</cp:revision>
  <dcterms:created xsi:type="dcterms:W3CDTF">2026-04-02T13:14:45Z</dcterms:created>
  <dcterms:modified xsi:type="dcterms:W3CDTF">2026-04-02T13:19:22Z</dcterms:modified>
</cp:coreProperties>
</file>